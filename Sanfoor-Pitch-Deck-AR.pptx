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20627" y="-2377440"/>
            <a:ext cx="8778240" cy="8778240"/>
          </a:xfrm>
          <a:prstGeom prst="ellipse">
            <a:avLst/>
          </a:prstGeom>
          <a:solidFill>
            <a:srgbClr val="2F7FE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114800"/>
            <a:ext cx="6035040" cy="6035040"/>
          </a:xfrm>
          <a:prstGeom prst="ellipse">
            <a:avLst/>
          </a:prstGeom>
          <a:solidFill>
            <a:srgbClr val="7AC4F5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985" y="1152144"/>
            <a:ext cx="1444752" cy="1444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0"/>
            <a:ext cx="89824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50">
                <a:solidFill>
                  <a:srgbClr val="7AC4F5"/>
                </a:solidFill>
                <a:latin typeface="Dubai"/>
                <a:cs typeface="Dubai"/>
                <a:ea typeface="Dubai"/>
              </a:rPr>
              <a:t>منصة إرشاد أكاديمي ذكية للجامعات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09344"/>
            <a:ext cx="889098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سنفور</a:t>
            </a:r>
          </a:p>
          <a:p>
            <a:pPr rtl="1" algn="r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2600" b="0">
                <a:solidFill>
                  <a:srgbClr val="9FC8F2"/>
                </a:solidFill>
                <a:latin typeface="Dubai"/>
                <a:cs typeface="Dubai"/>
                <a:ea typeface="Dubai"/>
              </a:rPr>
              <a:t>مرشدك الأكاديمي الذكي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7097" y="3877056"/>
            <a:ext cx="1691640" cy="54864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4169663"/>
            <a:ext cx="847950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C7D8EE"/>
                </a:solidFill>
                <a:latin typeface="Dubai"/>
                <a:cs typeface="Dubai"/>
                <a:ea typeface="Dubai"/>
              </a:rPr>
              <a:t>نظام يساعد طلبة الجامعات على فهم خططهم الدراسية واتخاذ قرار أكاديمي مبني على بياناتهم الفعلية، ويخفّف الضغط عن الإرشاد الأكاديمي داخل الجامعة.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42929" y="5413248"/>
            <a:ext cx="3035808" cy="804672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35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2385" y="5541264"/>
            <a:ext cx="2596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نموذج أولي يعمل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2385" y="5833872"/>
            <a:ext cx="2596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C8F2"/>
                </a:solidFill>
                <a:latin typeface="Dubai"/>
                <a:cs typeface="Dubai"/>
                <a:ea typeface="Dubai"/>
              </a:rPr>
              <a:t>منصة جاهزة للتجربة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2529" y="5413248"/>
            <a:ext cx="3035808" cy="804672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35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1985" y="5541264"/>
            <a:ext cx="2596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تجربة مع طلبة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1985" y="5833872"/>
            <a:ext cx="2596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C8F2"/>
                </a:solidFill>
                <a:latin typeface="Dubai"/>
                <a:cs typeface="Dubai"/>
                <a:ea typeface="Dubai"/>
              </a:rPr>
              <a:t>من جامعة الزرقاء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42129" y="5413248"/>
            <a:ext cx="3035808" cy="804672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35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61585" y="5541264"/>
            <a:ext cx="2596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نموذج 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1585" y="5833872"/>
            <a:ext cx="2596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C8F2"/>
                </a:solidFill>
                <a:latin typeface="Dubai"/>
                <a:cs typeface="Dubai"/>
                <a:ea typeface="Dubai"/>
              </a:rPr>
              <a:t>الجامعة هي العميل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18134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C8F2"/>
                </a:solidFill>
                <a:latin typeface="Dubai"/>
                <a:cs typeface="Dubai"/>
                <a:ea typeface="Dubai"/>
              </a:rPr>
              <a:t>عاصم الخباص، المؤسس والمطوّر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المشكلة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كل فصل دراسي يبدأ بالسؤال نفسه:
ما المواد التي يجب أن أسجّلها؟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91719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337816"/>
            <a:ext cx="10765505" cy="841248"/>
          </a:xfrm>
          <a:prstGeom prst="roundRect">
            <a:avLst>
              <a:gd name="adj" fmla="val 5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0" bIns="0"/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القرار الأكاديمي الخاطئ لا يؤثر على جدول فصل واحد فقط، بل قد يؤخّر مسار الطالب نحو التخرج.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144" y="3435096"/>
            <a:ext cx="5245592" cy="2340864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144" y="3435096"/>
            <a:ext cx="5245592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464" y="3681984"/>
            <a:ext cx="4696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على ماذا يعتمد الطالب اليوم؟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464" y="4111752"/>
            <a:ext cx="4696952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سؤال الأصدقاء والاجتهاد الشخصي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مجموعات الطلبة على مواقع التواصل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الانتظار أمام مكتب المرشد الأكاديمي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معلومات قد تكون ناقصة أو غير دقيقة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قراءة خطة دراسية معقدة دون أدوات مساعدة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435096"/>
            <a:ext cx="5245592" cy="2340864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3435096"/>
            <a:ext cx="5245592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681984"/>
            <a:ext cx="4696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والنتيجة على الطالب والجامعة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111752"/>
            <a:ext cx="4696952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تسجيل المواد بترتيب غير مناسب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عدم فهم المتطلبات السابقة وتأخير مواد أساسية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صعوبة فهم الخطة الدراسية والمسار نحو التخرج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ضغط كبير على المرشدين وازدحام فترات التسجيل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استهلاك وقت الطالب ووقت الجامعة</a:t>
            </a:r>
          </a:p>
        </p:txBody>
      </p:sp>
      <p:pic>
        <p:nvPicPr>
          <p:cNvPr id="17" name="Picture 16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الفجوة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لماذا لا تكفي الحلول الحالية؟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4347" y="1987296"/>
            <a:ext cx="3454389" cy="2103120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24347" y="1987296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02081" y="220675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8667" y="2234183"/>
            <a:ext cx="235710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نظام التسجيل الجامعي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667" y="2718816"/>
            <a:ext cx="290574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يسمح للطالب بتسجيل المواد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لا يساعده على تحديد المواد الأنسب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لا يخطّط له مساره الأكاديمي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8667" y="3633215"/>
            <a:ext cx="29057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5CB8"/>
                </a:solidFill>
                <a:latin typeface="Dubai"/>
                <a:cs typeface="Dubai"/>
                <a:ea typeface="Dubai"/>
              </a:rPr>
              <a:t>أداة تنفيذ، وليست أداة إرشاد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8789" y="1987296"/>
            <a:ext cx="3454389" cy="2103120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8789" y="1987296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46523" y="220675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109" y="2234183"/>
            <a:ext cx="235710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المرشد الأكاديمي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109" y="2718816"/>
            <a:ext cx="290574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يمتلك المعرفة والخبرة الكاملة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وقته محدود وأعداد الطلبة كبيرة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يصعب تقديم إرشاد فوري للجميع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3109" y="3633215"/>
            <a:ext cx="29057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5CB8"/>
                </a:solidFill>
                <a:latin typeface="Dubai"/>
                <a:cs typeface="Dubai"/>
                <a:ea typeface="Dubai"/>
              </a:rPr>
              <a:t>خبرة عالية بطاقة محدودة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1987296"/>
            <a:ext cx="3454389" cy="2103120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1987296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90965" y="220675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2234183"/>
            <a:ext cx="235710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أدوات ذكاء اصطناعي عامة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2718816"/>
            <a:ext cx="290574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إجابات عامة غير مرتبطة بالجامعة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لا تعرف الخطة والمتطلبات السابقة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لا تعرف ما أنجزه الطالب فعلياً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633215"/>
            <a:ext cx="290574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5CB8"/>
                </a:solidFill>
                <a:latin typeface="Dubai"/>
                <a:cs typeface="Dubai"/>
                <a:ea typeface="Dubai"/>
              </a:rPr>
              <a:t>ذكاء بدون بيانات الجامعة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456176"/>
            <a:ext cx="10765505" cy="914400"/>
          </a:xfrm>
          <a:prstGeom prst="roundRect">
            <a:avLst>
              <a:gd name="adj" fmla="val 5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0" bIns="0"/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الحلول الحالية تعالج أجزاءً متفرقة من المشكلة، وسنفور يجمع الإرشاد وفهم الخطة وتحليل بيانات الطالب والتوصيات الشخصية في منصة واحدة.</a:t>
            </a:r>
          </a:p>
        </p:txBody>
      </p:sp>
      <p:pic>
        <p:nvPicPr>
          <p:cNvPr id="27" name="Picture 26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التوقيت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لماذا الآن؟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4347" y="2115311"/>
            <a:ext cx="3454389" cy="138988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24347" y="2115311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667" y="2371343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التحول الرقمي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8667" y="2846832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توجّه واضح للجامعات نحو رقمنة خدماتها الأكاديمية والإدارية.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789" y="2115311"/>
            <a:ext cx="3454389" cy="138988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8789" y="2115311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3109" y="2371343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الذكاء الاصطناعي في التعليم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3109" y="2846832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انتشار استخدام الذكاء الاصطناعي داخل البيئات التعليمية.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115311"/>
            <a:ext cx="3454389" cy="138988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2115311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371343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توقعات الطلبة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846832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ارتفاع سقف توقعات الطلبة من الخدمات الرقمية الجامعية.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4347" y="3688080"/>
            <a:ext cx="3454389" cy="138988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4347" y="3688080"/>
            <a:ext cx="3454389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8667" y="3944112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ضغط متزايد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8667" y="4419600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زيادة الحمل على أقسام التسجيل ووحدات الإرشاد الأكاديمي.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8789" y="3688080"/>
            <a:ext cx="3454389" cy="138988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8789" y="3688080"/>
            <a:ext cx="3454389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3109" y="3944112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كفاءة بدون توسّع إداري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3109" y="4419600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حاجة الجامعات لرفع كفاءة الخدمة دون زيادة العبء الإداري.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688080"/>
            <a:ext cx="3454389" cy="138988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3688080"/>
            <a:ext cx="3454389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3944112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تقبّل المساعدات الذكية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419600"/>
            <a:ext cx="29057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تفاعل الطلبة مع المساعدات الذكية أصبح سلوكاً طبيعياً.</a:t>
            </a:r>
          </a:p>
        </p:txBody>
      </p:sp>
      <p:pic>
        <p:nvPicPr>
          <p:cNvPr id="32" name="Picture 31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الحل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 يحوّل الإرشاد الأكاديمي من عملية يدوية مزدحمة
إلى تجربة ذكية ومخصّصة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91719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337816"/>
            <a:ext cx="10765505" cy="822960"/>
          </a:xfrm>
          <a:prstGeom prst="roundRect">
            <a:avLst>
              <a:gd name="adj" fmla="val 5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0" bIns="0"/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سنفور يجمع بيانات الطالب وخطة الجامعة والذكاء الاصطناعي ليقدّم إرشاداً أكاديمياً شخصياً وفورياً.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144" y="3398520"/>
            <a:ext cx="5245592" cy="230428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144" y="3398520"/>
            <a:ext cx="5245592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464" y="3645408"/>
            <a:ext cx="4696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ما الذي يحلّله النظام؟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464" y="4075176"/>
            <a:ext cx="469695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الخطة الدراسية الخاصة بالتخصص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المواد المنجزة والمواد المتبقية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المتطلبات السابقة لكل مادة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المعدل الأكاديمي ووضع الطالب الحالي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المواد المتاحة له فعلياً وفق خطته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398520"/>
            <a:ext cx="5245592" cy="230428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3398520"/>
            <a:ext cx="5245592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645408"/>
            <a:ext cx="4696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ما الذي يحصل عليه الطالب؟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075176"/>
            <a:ext cx="469695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فهم واضح لمساره الأكاديمي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معرفة المواد التي يستطيع تسجيلها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اختيار المواد الأنسب لوضعه هذا الفصل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تخطيط الفصول القادمة ومحاكاة التسجيل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قرار أكاديمي مبني على بياناته لا على التخمين</a:t>
            </a:r>
          </a:p>
        </p:txBody>
      </p:sp>
      <p:pic>
        <p:nvPicPr>
          <p:cNvPr id="17" name="Picture 16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68609" y="749808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واجهة المنصة الرئيسية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609" y="1060704"/>
            <a:ext cx="331012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تجربة أكاديمية
تبدأ من مكان واحد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4297" y="2651760"/>
            <a:ext cx="123444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8609" y="2907791"/>
            <a:ext cx="33101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واجهة موحّدة تتيح للطالب الوصول إلى أدواته الأكاديمية، وفهم وضعه، والانتقال بسهولة بين خدمات سنفور.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8609" y="4224528"/>
            <a:ext cx="3310128" cy="384048"/>
          </a:xfrm>
          <a:prstGeom prst="roundRect">
            <a:avLst>
              <a:gd name="adj" fmla="val 12000"/>
            </a:avLst>
          </a:prstGeom>
          <a:solidFill>
            <a:srgbClr val="EFF5FD"/>
          </a:solidFill>
          <a:ln w="7620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نقطة دخول واحدة لكل الخدمات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09" y="4681728"/>
            <a:ext cx="3310128" cy="384048"/>
          </a:xfrm>
          <a:prstGeom prst="roundRect">
            <a:avLst>
              <a:gd name="adj" fmla="val 12000"/>
            </a:avLst>
          </a:prstGeom>
          <a:solidFill>
            <a:srgbClr val="EFF5FD"/>
          </a:solidFill>
          <a:ln w="7620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تجربة عربية من اليمين إلى اليسار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609" y="5138928"/>
            <a:ext cx="3310128" cy="384048"/>
          </a:xfrm>
          <a:prstGeom prst="roundRect">
            <a:avLst>
              <a:gd name="adj" fmla="val 12000"/>
            </a:avLst>
          </a:prstGeom>
          <a:solidFill>
            <a:srgbClr val="EFF5FD"/>
          </a:solidFill>
          <a:ln w="7620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مسار واضح للطالب من أول استخدام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" y="1242440"/>
            <a:ext cx="7187183" cy="4446270"/>
          </a:xfrm>
          <a:prstGeom prst="roundRect">
            <a:avLst>
              <a:gd name="adj" fmla="val 3000"/>
            </a:avLst>
          </a:prstGeom>
          <a:solidFill>
            <a:srgbClr val="E9EFF8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1333880"/>
            <a:ext cx="91440" cy="91440"/>
          </a:xfrm>
          <a:prstGeom prst="ellipse">
            <a:avLst/>
          </a:prstGeom>
          <a:solidFill>
            <a:srgbClr val="C3D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1333880"/>
            <a:ext cx="91440" cy="91440"/>
          </a:xfrm>
          <a:prstGeom prst="ellipse">
            <a:avLst/>
          </a:prstGeom>
          <a:solidFill>
            <a:srgbClr val="C3D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1333880"/>
            <a:ext cx="91440" cy="91440"/>
          </a:xfrm>
          <a:prstGeom prst="ellipse">
            <a:avLst/>
          </a:prstGeom>
          <a:solidFill>
            <a:srgbClr val="C3D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1306448"/>
            <a:ext cx="1645920" cy="17373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sanfoor.me</a:t>
            </a:r>
          </a:p>
        </p:txBody>
      </p:sp>
      <p:pic>
        <p:nvPicPr>
          <p:cNvPr id="17" name="Picture 16" descr="Screenshot 2026-07-30 1322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89912"/>
            <a:ext cx="7059168" cy="397078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13232" y="1589912"/>
            <a:ext cx="7059168" cy="3970782"/>
          </a:xfrm>
          <a:prstGeom prst="rect">
            <a:avLst/>
          </a:prstGeom>
          <a:noFill/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sanf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68609" y="749808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الميزة الأبرز، الشجرة الأكاديمية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609" y="1060704"/>
            <a:ext cx="331012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الخطة الدراسية
لم تعد ملفاً معقّداً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4297" y="2651760"/>
            <a:ext cx="123444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8609" y="2907791"/>
            <a:ext cx="33101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تحوّل الشجرة الأكاديمية خطة الطالب إلى مسار بصري واضح يبيّن المواد المنجزة، والمواد المتاحة، والمواد المغلقة بسبب المتطلبات السابقة.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8609" y="4224528"/>
            <a:ext cx="3310128" cy="384048"/>
          </a:xfrm>
          <a:prstGeom prst="roundRect">
            <a:avLst>
              <a:gd name="adj" fmla="val 12000"/>
            </a:avLst>
          </a:prstGeom>
          <a:solidFill>
            <a:srgbClr val="EFF5FD"/>
          </a:solidFill>
          <a:ln w="7620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فهم أسرع للخطة الدراسية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09" y="4681728"/>
            <a:ext cx="3310128" cy="384048"/>
          </a:xfrm>
          <a:prstGeom prst="roundRect">
            <a:avLst>
              <a:gd name="adj" fmla="val 12000"/>
            </a:avLst>
          </a:prstGeom>
          <a:solidFill>
            <a:srgbClr val="EFF5FD"/>
          </a:solidFill>
          <a:ln w="7620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رؤية المتطلبات السابقة بوضوح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609" y="5138928"/>
            <a:ext cx="3310128" cy="384048"/>
          </a:xfrm>
          <a:prstGeom prst="roundRect">
            <a:avLst>
              <a:gd name="adj" fmla="val 12000"/>
            </a:avLst>
          </a:prstGeom>
          <a:solidFill>
            <a:srgbClr val="EFF5FD"/>
          </a:solidFill>
          <a:ln w="7620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تخطيط أفضل للفصول القادمة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8609" y="5596128"/>
            <a:ext cx="3310128" cy="384048"/>
          </a:xfrm>
          <a:prstGeom prst="roundRect">
            <a:avLst>
              <a:gd name="adj" fmla="val 12000"/>
            </a:avLst>
          </a:prstGeom>
          <a:solidFill>
            <a:srgbClr val="EFF5FD"/>
          </a:solidFill>
          <a:ln w="7620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تقليل أخطاء اختيار المواد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" y="1242440"/>
            <a:ext cx="7187183" cy="4446270"/>
          </a:xfrm>
          <a:prstGeom prst="roundRect">
            <a:avLst>
              <a:gd name="adj" fmla="val 3000"/>
            </a:avLst>
          </a:prstGeom>
          <a:solidFill>
            <a:srgbClr val="E9EFF8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8096" y="1333880"/>
            <a:ext cx="91440" cy="91440"/>
          </a:xfrm>
          <a:prstGeom prst="ellipse">
            <a:avLst/>
          </a:prstGeom>
          <a:solidFill>
            <a:srgbClr val="C3D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1333880"/>
            <a:ext cx="91440" cy="91440"/>
          </a:xfrm>
          <a:prstGeom prst="ellipse">
            <a:avLst/>
          </a:prstGeom>
          <a:solidFill>
            <a:srgbClr val="C3D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1333880"/>
            <a:ext cx="91440" cy="91440"/>
          </a:xfrm>
          <a:prstGeom prst="ellipse">
            <a:avLst/>
          </a:prstGeom>
          <a:solidFill>
            <a:srgbClr val="C3D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0" y="1306448"/>
            <a:ext cx="1645920" cy="17373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sanfoor.me</a:t>
            </a:r>
          </a:p>
        </p:txBody>
      </p:sp>
      <p:pic>
        <p:nvPicPr>
          <p:cNvPr id="18" name="Picture 17" descr="Screenshot 2026-07-30 132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89912"/>
            <a:ext cx="7059168" cy="397078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13232" y="1589912"/>
            <a:ext cx="7059168" cy="3970782"/>
          </a:xfrm>
          <a:prstGeom prst="rect">
            <a:avLst/>
          </a:prstGeom>
          <a:noFill/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sanf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68609" y="749808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المستشار الأكاديمي الذكي AI Sanfoor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609" y="1060704"/>
            <a:ext cx="331012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مستشار يفهم الطالب
وخطة جامعته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4297" y="2651760"/>
            <a:ext cx="123444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8609" y="2907791"/>
            <a:ext cx="33101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AI Sanfoor‏ ليس Chatbot‏ عاماً؛ بل مستشار أكاديمي يحلّل بيانات الطالب وخطة الجامعة ليقدّم توصيات شخصية تساعده على اختيار المواد واتخاذ القرار الأكاديمي المناسب.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609" y="4224528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F7FE0"/>
                </a:solidFill>
                <a:latin typeface="Dubai"/>
                <a:cs typeface="Dubai"/>
                <a:ea typeface="Dubai"/>
              </a:rPr>
              <a:t>عناصر التحليل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58190" y="4535424"/>
            <a:ext cx="720547" cy="329184"/>
          </a:xfrm>
          <a:prstGeom prst="roundRect">
            <a:avLst>
              <a:gd name="adj" fmla="val 40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المعدل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02465" y="4535424"/>
            <a:ext cx="1364284" cy="329184"/>
          </a:xfrm>
          <a:prstGeom prst="roundRect">
            <a:avLst>
              <a:gd name="adj" fmla="val 40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المواد المنجزة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33985" y="4956048"/>
            <a:ext cx="1444751" cy="329184"/>
          </a:xfrm>
          <a:prstGeom prst="roundRect">
            <a:avLst>
              <a:gd name="adj" fmla="val 40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المواد المتبقية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6859" y="4956048"/>
            <a:ext cx="1605686" cy="329184"/>
          </a:xfrm>
          <a:prstGeom prst="roundRect">
            <a:avLst>
              <a:gd name="adj" fmla="val 40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المتطلبات السابقة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36321" y="5376672"/>
            <a:ext cx="1042415" cy="329184"/>
          </a:xfrm>
          <a:prstGeom prst="roundRect">
            <a:avLst>
              <a:gd name="adj" fmla="val 40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خطة التخرج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" y="1242440"/>
            <a:ext cx="7187183" cy="4446270"/>
          </a:xfrm>
          <a:prstGeom prst="roundRect">
            <a:avLst>
              <a:gd name="adj" fmla="val 3000"/>
            </a:avLst>
          </a:prstGeom>
          <a:solidFill>
            <a:srgbClr val="E9EFF8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8096" y="1333880"/>
            <a:ext cx="91440" cy="91440"/>
          </a:xfrm>
          <a:prstGeom prst="ellipse">
            <a:avLst/>
          </a:prstGeom>
          <a:solidFill>
            <a:srgbClr val="C3D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1333880"/>
            <a:ext cx="91440" cy="91440"/>
          </a:xfrm>
          <a:prstGeom prst="ellipse">
            <a:avLst/>
          </a:prstGeom>
          <a:solidFill>
            <a:srgbClr val="C3D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" y="1333880"/>
            <a:ext cx="91440" cy="91440"/>
          </a:xfrm>
          <a:prstGeom prst="ellipse">
            <a:avLst/>
          </a:prstGeom>
          <a:solidFill>
            <a:srgbClr val="C3D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0" y="1306448"/>
            <a:ext cx="1645920" cy="17373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sanfoor.me</a:t>
            </a:r>
          </a:p>
        </p:txBody>
      </p:sp>
      <p:pic>
        <p:nvPicPr>
          <p:cNvPr id="20" name="Picture 19" descr="Screenshot 2026-07-30 132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89912"/>
            <a:ext cx="7059168" cy="397078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13232" y="1589912"/>
            <a:ext cx="7059168" cy="3970782"/>
          </a:xfrm>
          <a:prstGeom prst="rect">
            <a:avLst/>
          </a:prstGeom>
          <a:noFill/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sanf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المنتج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منظومة خدمات سنفور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38237" y="1969008"/>
            <a:ext cx="2540500" cy="1335024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38237" y="1969008"/>
            <a:ext cx="25405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38657" y="2170176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2557" y="2206752"/>
            <a:ext cx="15163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الشجرة الأكاديمية الذكية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2557" y="2682240"/>
            <a:ext cx="19918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عرض تفاعلي للخطة الدراسية والمواد والمتطلبات السابقة.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68" y="1969008"/>
            <a:ext cx="2540500" cy="1335024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568" y="1969008"/>
            <a:ext cx="2540500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6989" y="2170176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888" y="2206752"/>
            <a:ext cx="15163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AI Sanfoor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888" y="2682240"/>
            <a:ext cx="19918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مستشار أكاديمي يقدّم توصيات مبنية على بيانات الطالب وخطة الجامعة.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4900" y="1969008"/>
            <a:ext cx="2540500" cy="1335024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4900" y="1969008"/>
            <a:ext cx="25405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55320" y="2170176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9220" y="2206752"/>
            <a:ext cx="15163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اقتراح أفضل المواد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220" y="2682240"/>
            <a:ext cx="19918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مساعدة الطالب على اختيار المواد المناسبة لوضعه في كل فصل.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1969008"/>
            <a:ext cx="2540500" cy="1335024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1969008"/>
            <a:ext cx="2540500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13652" y="2170176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2206752"/>
            <a:ext cx="15163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التسجيل التجريبي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2682240"/>
            <a:ext cx="19918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محاكاة اختيار المواد وتجهيز الجدول قبل التسجيل الفعلي.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38237" y="3450336"/>
            <a:ext cx="2540500" cy="1335024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38237" y="3450336"/>
            <a:ext cx="25405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838657" y="3651504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2557" y="3688080"/>
            <a:ext cx="15163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تحليل الخطة الدراسية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2557" y="4163568"/>
            <a:ext cx="19918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إظهار التقدّم والمواد المنجزة والمتبقية نحو التخرج.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6568" y="3450336"/>
            <a:ext cx="2540500" cy="1335024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6568" y="3450336"/>
            <a:ext cx="2540500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96989" y="3651504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0888" y="3688080"/>
            <a:ext cx="15163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الدخول بحساب الجامعة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0888" y="4163568"/>
            <a:ext cx="19918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دخول الطالب بحسابه الجامعي ضمن تجربة موحّدة.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54900" y="3450336"/>
            <a:ext cx="2540500" cy="1335024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54900" y="3450336"/>
            <a:ext cx="25405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55320" y="3651504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9220" y="3688080"/>
            <a:ext cx="15163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لوحة تحكم الطالب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9220" y="4163568"/>
            <a:ext cx="19918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نظرة شاملة على الوضع الأكاديمي والخطة وخدمات المنصة.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4986528"/>
            <a:ext cx="80238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7FE0"/>
                </a:solidFill>
                <a:latin typeface="Dubai"/>
                <a:cs typeface="Dubai"/>
                <a:ea typeface="Dubai"/>
              </a:rPr>
              <a:t>رحلة الطالب داخل سنفور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64281" y="5352288"/>
            <a:ext cx="1772787" cy="658368"/>
          </a:xfrm>
          <a:prstGeom prst="roundRect">
            <a:avLst>
              <a:gd name="adj" fmla="val 10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يدخل المنصة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3385" y="5516880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F7FE0"/>
                </a:solidFill>
                <a:latin typeface="Segoe UI"/>
                <a:cs typeface="Segoe UI"/>
                <a:ea typeface="Segoe UI"/>
              </a:rPr>
              <a:t>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80598" y="5352288"/>
            <a:ext cx="1772787" cy="658368"/>
          </a:xfrm>
          <a:prstGeom prst="roundRect">
            <a:avLst>
              <a:gd name="adj" fmla="val 10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يرى وضعه وخدماته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9702" y="5516880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F7FE0"/>
                </a:solidFill>
                <a:latin typeface="Segoe UI"/>
                <a:cs typeface="Segoe UI"/>
                <a:ea typeface="Segoe UI"/>
              </a:rPr>
              <a:t>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96915" y="5352288"/>
            <a:ext cx="1772787" cy="658368"/>
          </a:xfrm>
          <a:prstGeom prst="roundRect">
            <a:avLst>
              <a:gd name="adj" fmla="val 10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يفهم خطته عبر الشجرة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86019" y="5516880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F7FE0"/>
                </a:solidFill>
                <a:latin typeface="Segoe UI"/>
                <a:cs typeface="Segoe UI"/>
                <a:ea typeface="Segoe UI"/>
              </a:rPr>
              <a:t>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1" y="5352288"/>
            <a:ext cx="1772787" cy="658368"/>
          </a:xfrm>
          <a:prstGeom prst="roundRect">
            <a:avLst>
              <a:gd name="adj" fmla="val 10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توصيات من AI Sanfoor</a:t>
            </a:r>
          </a:p>
        </p:txBody>
      </p:sp>
      <p:pic>
        <p:nvPicPr>
          <p:cNvPr id="51" name="Picture 50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قيمة العميل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لماذا ستشتري الجامعة سنفور؟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95856"/>
            <a:ext cx="10765505" cy="841248"/>
          </a:xfrm>
          <a:prstGeom prst="roundRect">
            <a:avLst>
              <a:gd name="adj" fmla="val 5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0" bIns="0"/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الجامعة لا تشتري Chatbot؛ بل تشتري خدمة إرشاد أكاديمي أكثر كفاءة، وأقل ضغطاً، وأفضل تجربة للطالب.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4347" y="2993136"/>
            <a:ext cx="3454389" cy="239572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24347" y="2993136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02081" y="321259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667" y="3240024"/>
            <a:ext cx="235710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كفاءة تشغيلية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8667" y="3724656"/>
            <a:ext cx="2905749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تقليل الضغط على المرشدين الأكاديميين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تقليل الأسئلة المتكررة في فترات التسجيل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توحيد جودة الإرشاد الأكاديمي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تقليل أخطاء اختيار المواد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8789" y="2993136"/>
            <a:ext cx="3454389" cy="239572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8789" y="2993136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46523" y="321259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109" y="3240024"/>
            <a:ext cx="235710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تجربة الطالب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109" y="3724656"/>
            <a:ext cx="2905749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خدمة إرشاد تعمل على مدار الساعة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تحسين رضا الطالب عن خدمات الجامعة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مساعدة الطلبة على فهم خططهم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تجربة حديثة تعكس اهتمام الجامعة بطلابها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993136"/>
            <a:ext cx="3454389" cy="239572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2993136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90965" y="321259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240024"/>
            <a:ext cx="235710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تحوّل رقمي مؤسسي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724656"/>
            <a:ext cx="2905749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دعم التحول الرقمي داخل الجامعة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نظام مخصّص حسب خططها وتعليماتها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ذكاء اصطناعي مرتبط ببيانات الجامعة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طبقة إرشاد مكمّلة لنظام التسجيل الحالي</a:t>
            </a:r>
          </a:p>
        </p:txBody>
      </p:sp>
      <p:pic>
        <p:nvPicPr>
          <p:cNvPr id="24" name="Picture 23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إثبات صحة الفكرة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المشروع تجاوز مرحلة الفكرة إلى منتج جُرّب فعلياً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33144" y="1969008"/>
            <a:ext cx="5245592" cy="1920240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3144" y="1969008"/>
            <a:ext cx="5245592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464" y="2215896"/>
            <a:ext cx="4696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ماذا تم إنجازه؟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464" y="2645664"/>
            <a:ext cx="4696952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نموذج أولي MVP‏ يعمل فعلياً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منصة قابلة للتجربة بوظائف حقيقية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شجرة أكاديمية تفاعلية ومستشار ذكي عاملان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مشاركة في مسابقات وبرامج ريادية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969008"/>
            <a:ext cx="5245592" cy="1920240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1969008"/>
            <a:ext cx="5245592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215896"/>
            <a:ext cx="4696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ماذا قال السوق؟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645664"/>
            <a:ext cx="4696952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تجربة المنصة من قبل عدد من طلبة جامعة الزرقاء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ردود فعل إيجابية من الطلبة المستخدمين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إعجاب الجامعة بالمشروع واهتمامها به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فرصة للتقدّم نحو تعاون رسمي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08704"/>
            <a:ext cx="10765505" cy="1298448"/>
          </a:xfrm>
          <a:prstGeom prst="roundRect">
            <a:avLst>
              <a:gd name="adj" fmla="val 5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4346448"/>
            <a:ext cx="966822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تمت تجربة المنصة مع طلبة من جامعة الزرقاء، وحصلت على ردود فعل إيجابية، كما أبدت الجامعة اهتماماً بالمشروع، مع وجود فرصة للتقدّم نحو تعاون رسمي.</a:t>
            </a:r>
          </a:p>
          <a:p>
            <a:pPr rtl="1" algn="ctr">
              <a:lnSpc>
                <a:spcPct val="124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>
                <a:solidFill>
                  <a:srgbClr val="7AC4F5"/>
                </a:solidFill>
                <a:latin typeface="Dubai"/>
                <a:cs typeface="Dubai"/>
                <a:ea typeface="Dubai"/>
              </a:rPr>
              <a:t>لم يتم توقيع أي اتفاقية حتى الآن؛ المرحلة الحالية تجربة واهتمام مؤسسي.</a:t>
            </a:r>
          </a:p>
        </p:txBody>
      </p:sp>
      <p:pic>
        <p:nvPicPr>
          <p:cNvPr id="18" name="Picture 17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نموذج العمل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Business Model Canvas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28049" y="1969008"/>
            <a:ext cx="2050688" cy="1975104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28049" y="1969008"/>
            <a:ext cx="2050688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92641" y="2170176"/>
            <a:ext cx="1721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شرائح العملاء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2641" y="2535936"/>
            <a:ext cx="172150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الجامعات الأردنية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إدارات الجامعات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أقسام التسجيل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وحدات الإرشاد الأكاديمي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مراكز التحول الرقمي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49344" y="1969008"/>
            <a:ext cx="2050688" cy="1975104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49344" y="1969008"/>
            <a:ext cx="2050688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3936" y="2170176"/>
            <a:ext cx="1721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المستخدم النهائي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3936" y="2535936"/>
            <a:ext cx="172150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طلبة الجامعات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المرشدون الأكاديميون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0640" y="1969008"/>
            <a:ext cx="2050688" cy="1975104"/>
          </a:xfrm>
          <a:prstGeom prst="roundRect">
            <a:avLst>
              <a:gd name="adj" fmla="val 5000"/>
            </a:avLst>
          </a:prstGeom>
          <a:solidFill>
            <a:srgbClr val="EFF5FD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0640" y="1969008"/>
            <a:ext cx="2050688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5232" y="2170176"/>
            <a:ext cx="1721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القيمة المقدّمة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5232" y="2535936"/>
            <a:ext cx="172150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إرشاد أكاديمي ذكي ومخصّص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تقليل الضغط على المرشدين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تحسين تجربة الطالب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تقليل أخطاء التسجيل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تخصيص حسب بيانات كل جامعة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1936" y="1969008"/>
            <a:ext cx="2050688" cy="1975104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1936" y="1969008"/>
            <a:ext cx="2050688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56528" y="2170176"/>
            <a:ext cx="1721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القنوات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6528" y="2535936"/>
            <a:ext cx="172150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التواصل مع إدارات الجامعات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العروض التجريبية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الشراكات الجامعية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الحاضنات والبرامج الريادية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الفعاليات التعليمية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1" y="1969008"/>
            <a:ext cx="2050688" cy="1975104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1" y="1969008"/>
            <a:ext cx="2050688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3" y="2170176"/>
            <a:ext cx="1721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العلاقة مع العملاء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3" y="2535936"/>
            <a:ext cx="172150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دعم مباشر للجامعة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تهيئة وتخصيص النظام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تدريب المستخدمين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صيانة وتحديث مستمر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متابعة فترة التجربة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8049" y="4090416"/>
            <a:ext cx="2050688" cy="1975104"/>
          </a:xfrm>
          <a:prstGeom prst="roundRect">
            <a:avLst>
              <a:gd name="adj" fmla="val 5000"/>
            </a:avLst>
          </a:prstGeom>
          <a:solidFill>
            <a:srgbClr val="EFF5FD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28049" y="4090416"/>
            <a:ext cx="2050688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92641" y="4291584"/>
            <a:ext cx="1721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مصادر الدخل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2641" y="4657344"/>
            <a:ext cx="172150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ترخيص سنوي للجامعة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رسوم إعداد وتخصيص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عقود دعم فني وصيانة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تكاملات إضافية عند الحاجة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49344" y="4090416"/>
            <a:ext cx="2050688" cy="1975104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49344" y="4090416"/>
            <a:ext cx="2050688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13936" y="4291584"/>
            <a:ext cx="1721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الأنشطة الرئيسية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3936" y="4657344"/>
            <a:ext cx="172150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تطوير المنصة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تحسين المستشار الأكاديمي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إضافة خطط الجامعات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التخصيص والدعم الفني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تحسين تجربة المستخدم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0640" y="4090416"/>
            <a:ext cx="2050688" cy="1975104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70640" y="4090416"/>
            <a:ext cx="2050688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5232" y="4291584"/>
            <a:ext cx="1721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الموارد الرئيسية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5232" y="4657344"/>
            <a:ext cx="172150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المنصة التقنية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الذكاء الاصطناعي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قاعدة البيانات والخوارزميات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فريق التطوير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معرفة الخطط والتعليمات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91936" y="4090416"/>
            <a:ext cx="2050688" cy="1975104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91936" y="4090416"/>
            <a:ext cx="2050688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56528" y="4291584"/>
            <a:ext cx="1721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الشركاء الرئيسيون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56528" y="4657344"/>
            <a:ext cx="172150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الجامعات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جهات دعم ريادة الأعمال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مزودو الاستضافة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مزودو تقنيات الذكاء الاصطناعي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1" y="4090416"/>
            <a:ext cx="2050688" cy="1975104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1" y="4090416"/>
            <a:ext cx="2050688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3" y="4291584"/>
            <a:ext cx="1721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هيكل التكاليف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3" y="4657344"/>
            <a:ext cx="172150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التطوير والصيانة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الاستضافة والخوادم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واجهات الذكاء الاصطناعي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تخصيص بيانات الجامعات</a:t>
            </a:r>
          </a:p>
          <a:p>
            <a:pPr rtl="1" algn="r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93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الدعم والتسويق والمبيعات</a:t>
            </a:r>
          </a:p>
        </p:txBody>
      </p:sp>
      <p:pic>
        <p:nvPicPr>
          <p:cNvPr id="48" name="Picture 47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نموذج الإيرادات B2B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الجامعة هي العميل الذي يدفع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52457" y="1969008"/>
            <a:ext cx="4526280" cy="3529584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3353" y="2261616"/>
            <a:ext cx="3904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7AC4F5"/>
                </a:solidFill>
                <a:latin typeface="Dubai"/>
                <a:cs typeface="Dubai"/>
                <a:ea typeface="Dubai"/>
              </a:rPr>
              <a:t>المصدر الأساسي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3353" y="2609087"/>
            <a:ext cx="39044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اشتراك أو ترخيص سنوي
تدفعه الجامعة مقابل استخدام سنفور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50521" y="3724656"/>
            <a:ext cx="1417320" cy="45720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3353" y="3962399"/>
            <a:ext cx="3904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D8EE"/>
                </a:solidFill>
                <a:latin typeface="Dubai"/>
                <a:cs typeface="Dubai"/>
                <a:ea typeface="Dubai"/>
              </a:rPr>
              <a:t>لا يوجد أي مصدر دخل من الطلبة، ولا اشتراكات فردية ولا خطط مدفوعة للطالب.</a:t>
            </a:r>
          </a:p>
          <a:p>
            <a:pPr rtl="1" algn="r">
              <a:lnSpc>
                <a:spcPct val="124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الطالب مستخدم، والجامعة عميل.</a:t>
            </a:r>
          </a:p>
          <a:p>
            <a:pPr rtl="1" algn="r">
              <a:lnSpc>
                <a:spcPct val="138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7AC4F5"/>
                </a:solidFill>
                <a:latin typeface="Dubai"/>
                <a:cs typeface="Dubai"/>
                <a:ea typeface="Dubai"/>
              </a:rPr>
              <a:t>سبب النموذج: لكل جامعة خططها وتخصصاتها ومتطلباتها وتعليماتها وقوانين تسجيلها، لذلك يُخصّص سنفور لكل جامعة وفق بياناتها.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969008"/>
            <a:ext cx="5964905" cy="1627632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1969008"/>
            <a:ext cx="5964905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215896"/>
            <a:ext cx="541626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مصادر إيراد إضافية محتملة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645664"/>
            <a:ext cx="5416265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رسوم التخصيص وإعداد خطط الجامعة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عقود الدعم الفني والصيانة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رسوم التكامل مع أنظمة الجامعة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تطوير وظائف خاصة حسب احتياج الجامعة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669792"/>
            <a:ext cx="5964905" cy="1828800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669792"/>
            <a:ext cx="5964905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916680"/>
            <a:ext cx="541626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السعر يختلف بحسب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46448"/>
            <a:ext cx="5416265" cy="932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عدد الطلبة المستفيدين</a:t>
            </a:r>
          </a:p>
          <a:p>
            <a:pPr rtl="1" algn="r">
              <a:lnSpc>
                <a:spcPct val="126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عدد التخصصات والخطط الدراسية</a:t>
            </a:r>
          </a:p>
          <a:p>
            <a:pPr rtl="1" algn="r">
              <a:lnSpc>
                <a:spcPct val="126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حجم التخصيص المطلوب</a:t>
            </a:r>
          </a:p>
          <a:p>
            <a:pPr rtl="1" algn="r">
              <a:lnSpc>
                <a:spcPct val="126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مستوى التكامل مع أنظمة الجامعة</a:t>
            </a:r>
          </a:p>
          <a:p>
            <a:pPr rtl="1" algn="r">
              <a:lnSpc>
                <a:spcPct val="126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مستوى الدعم المتفق عليه</a:t>
            </a:r>
          </a:p>
        </p:txBody>
      </p:sp>
      <p:pic>
        <p:nvPicPr>
          <p:cNvPr id="21" name="Picture 20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السوق المستهدف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التركيز أولاً على الجامعات الأردنية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4347" y="1987296"/>
            <a:ext cx="3454389" cy="239572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24347" y="1987296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02081" y="2170175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8667" y="2206752"/>
            <a:ext cx="23936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المرحلة الأولى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667" y="2481071"/>
            <a:ext cx="290574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إثبات النجاح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8667" y="2993136"/>
            <a:ext cx="290574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تجربة Pilot‏ مع جامعة شريكة</a:t>
            </a:r>
          </a:p>
          <a:p>
            <a:pPr rtl="1" algn="r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قياس الاستخدام والأثر</a:t>
            </a:r>
          </a:p>
          <a:p>
            <a:pPr rtl="1" algn="r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توثيق النتائج كدراسة حالة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8789" y="1987296"/>
            <a:ext cx="3454389" cy="239572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8789" y="1987296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46523" y="2170175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109" y="2206752"/>
            <a:ext cx="23936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المرحلة الثانية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109" y="2481071"/>
            <a:ext cx="290574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أول اعتمادات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3109" y="2993136"/>
            <a:ext cx="290574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الوصول إلى عدد محدود من الجامعات الأردنية</a:t>
            </a:r>
          </a:p>
          <a:p>
            <a:pPr rtl="1" algn="r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بعد إثبات القيمة عملياً</a:t>
            </a:r>
          </a:p>
          <a:p>
            <a:pPr rtl="1" algn="r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بناء الثقة المؤسسية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1987296"/>
            <a:ext cx="3454389" cy="2395728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1987296"/>
            <a:ext cx="3454389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90965" y="2170175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2206752"/>
            <a:ext cx="23936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المرحلة الثالثة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2481071"/>
            <a:ext cx="290574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توسّع محلي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2993136"/>
            <a:ext cx="290574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التوسع التدريجي داخل الأردن</a:t>
            </a:r>
          </a:p>
          <a:p>
            <a:pPr rtl="1" algn="r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تغطية تخصصات وخطط أكثر</a:t>
            </a:r>
          </a:p>
          <a:p>
            <a:pPr rtl="1" algn="r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تحسين عملية الإعداد والتخصيص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639056"/>
            <a:ext cx="10765505" cy="1005840"/>
          </a:xfrm>
          <a:prstGeom prst="roundRect">
            <a:avLst>
              <a:gd name="adj" fmla="val 5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840224"/>
            <a:ext cx="100339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50">
                <a:solidFill>
                  <a:srgbClr val="7AC4F5"/>
                </a:solidFill>
                <a:latin typeface="Dubai"/>
                <a:cs typeface="Dubai"/>
                <a:ea typeface="Dubai"/>
              </a:rPr>
              <a:t>الرؤية المستقبلية</a:t>
            </a:r>
          </a:p>
          <a:p>
            <a:pPr rtl="1" algn="ctr">
              <a:lnSpc>
                <a:spcPct val="124000"/>
              </a:lnSpc>
              <a:spcBef>
                <a:spcPts val="50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التوسع إلى جامعات عربية لاحقاً، بعد إثبات النموذج داخل الأردن.</a:t>
            </a:r>
          </a:p>
        </p:txBody>
      </p:sp>
      <p:pic>
        <p:nvPicPr>
          <p:cNvPr id="28" name="Picture 27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الميزة التنافسية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 يجمع في نظام واحد ما هو موزّع اليوم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950720"/>
          <a:ext cx="10765505" cy="34015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  <a:gridCol w="2535905"/>
              </a:tblGrid>
              <a:tr h="475488"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سنفور</a:t>
                      </a:r>
                    </a:p>
                  </a:txBody>
                  <a:tcPr anchor="ctr" marL="91440" marR="91440" marT="0" marB="0">
                    <a:solidFill>
                      <a:srgbClr val="2F7F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أدوات AI‏ عامة</a:t>
                      </a:r>
                    </a:p>
                  </a:txBody>
                  <a:tcPr anchor="ctr" marL="91440" marR="91440" marT="0" marB="0">
                    <a:solidFill>
                      <a:srgbClr val="0B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المرشد الأكاديمي</a:t>
                      </a:r>
                    </a:p>
                  </a:txBody>
                  <a:tcPr anchor="ctr" marL="91440" marR="91440" marT="0" marB="0">
                    <a:solidFill>
                      <a:srgbClr val="0B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نظام الجامعة</a:t>
                      </a:r>
                    </a:p>
                  </a:txBody>
                  <a:tcPr anchor="ctr" marL="91440" marR="91440" marT="0" marB="0">
                    <a:solidFill>
                      <a:srgbClr val="0B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المعيار</a:t>
                      </a:r>
                    </a:p>
                  </a:txBody>
                  <a:tcPr anchor="ctr" marL="91440" marR="91440" marT="0" marB="0">
                    <a:solidFill>
                      <a:srgbClr val="0B1E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2F7F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B4BFCE"/>
                          </a:solidFill>
                          <a:latin typeface="Dubai"/>
                          <a:cs typeface="Dubai"/>
                          <a:ea typeface="Dubai"/>
                        </a:rPr>
                        <a:t>غير متوفر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8A99AD"/>
                          </a:solidFill>
                          <a:latin typeface="Dubai"/>
                          <a:cs typeface="Dubai"/>
                          <a:ea typeface="Dubai"/>
                        </a:rPr>
                        <a:t>جزئياً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B5CB8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F203A"/>
                          </a:solidFill>
                          <a:latin typeface="Dubai"/>
                          <a:cs typeface="Dubai"/>
                          <a:ea typeface="Dubai"/>
                        </a:rPr>
                        <a:t>مخصّص لكل جامعة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2F7F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B4BFCE"/>
                          </a:solidFill>
                          <a:latin typeface="Dubai"/>
                          <a:cs typeface="Dubai"/>
                          <a:ea typeface="Dubai"/>
                        </a:rPr>
                        <a:t>غير متوفر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B5CB8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8A99AD"/>
                          </a:solidFill>
                          <a:latin typeface="Dubai"/>
                          <a:cs typeface="Dubai"/>
                          <a:ea typeface="Dubai"/>
                        </a:rPr>
                        <a:t>جزئياً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F203A"/>
                          </a:solidFill>
                          <a:latin typeface="Dubai"/>
                          <a:cs typeface="Dubai"/>
                          <a:ea typeface="Dubai"/>
                        </a:rPr>
                        <a:t>يفهم الخطة الدراسية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2F7F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B4BFCE"/>
                          </a:solidFill>
                          <a:latin typeface="Dubai"/>
                          <a:cs typeface="Dubai"/>
                          <a:ea typeface="Dubai"/>
                        </a:rPr>
                        <a:t>غير متوفر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8A99AD"/>
                          </a:solidFill>
                          <a:latin typeface="Dubai"/>
                          <a:cs typeface="Dubai"/>
                          <a:ea typeface="Dubai"/>
                        </a:rPr>
                        <a:t>جزئياً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B5CB8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F203A"/>
                          </a:solidFill>
                          <a:latin typeface="Dubai"/>
                          <a:cs typeface="Dubai"/>
                          <a:ea typeface="Dubai"/>
                        </a:rPr>
                        <a:t>يعتمد على بيانات الطالب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2F7F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8A99AD"/>
                          </a:solidFill>
                          <a:latin typeface="Dubai"/>
                          <a:cs typeface="Dubai"/>
                          <a:ea typeface="Dubai"/>
                        </a:rPr>
                        <a:t>جزئياً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8A99AD"/>
                          </a:solidFill>
                          <a:latin typeface="Dubai"/>
                          <a:cs typeface="Dubai"/>
                          <a:ea typeface="Dubai"/>
                        </a:rPr>
                        <a:t>جزئياً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B4BFCE"/>
                          </a:solidFill>
                          <a:latin typeface="Dubai"/>
                          <a:cs typeface="Dubai"/>
                          <a:ea typeface="Dubai"/>
                        </a:rPr>
                        <a:t>غير متوفر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F203A"/>
                          </a:solidFill>
                          <a:latin typeface="Dubai"/>
                          <a:cs typeface="Dubai"/>
                          <a:ea typeface="Dubai"/>
                        </a:rPr>
                        <a:t>توصيات ذكية فورية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2F7F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B4BFCE"/>
                          </a:solidFill>
                          <a:latin typeface="Dubai"/>
                          <a:cs typeface="Dubai"/>
                          <a:ea typeface="Dubai"/>
                        </a:rPr>
                        <a:t>غير متوفر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B4BFCE"/>
                          </a:solidFill>
                          <a:latin typeface="Dubai"/>
                          <a:cs typeface="Dubai"/>
                          <a:ea typeface="Dubai"/>
                        </a:rPr>
                        <a:t>غير متوفر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B4BFCE"/>
                          </a:solidFill>
                          <a:latin typeface="Dubai"/>
                          <a:cs typeface="Dubai"/>
                          <a:ea typeface="Dubai"/>
                        </a:rPr>
                        <a:t>غير متوفر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F203A"/>
                          </a:solidFill>
                          <a:latin typeface="Dubai"/>
                          <a:cs typeface="Dubai"/>
                          <a:ea typeface="Dubai"/>
                        </a:rPr>
                        <a:t>عرض تفاعلي للخطة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2F7F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B4BFCE"/>
                          </a:solidFill>
                          <a:latin typeface="Dubai"/>
                          <a:cs typeface="Dubai"/>
                          <a:ea typeface="Dubai"/>
                        </a:rPr>
                        <a:t>غير متوفر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B4BFCE"/>
                          </a:solidFill>
                          <a:latin typeface="Dubai"/>
                          <a:cs typeface="Dubai"/>
                          <a:ea typeface="Dubai"/>
                        </a:rPr>
                        <a:t>غير متوفر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8A99AD"/>
                          </a:solidFill>
                          <a:latin typeface="Dubai"/>
                          <a:cs typeface="Dubai"/>
                          <a:ea typeface="Dubai"/>
                        </a:rPr>
                        <a:t>جزئياً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F203A"/>
                          </a:solidFill>
                          <a:latin typeface="Dubai"/>
                          <a:cs typeface="Dubai"/>
                          <a:ea typeface="Dubai"/>
                        </a:rPr>
                        <a:t>تسجيل تجريبي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2F7F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B5CB8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B4BFCE"/>
                          </a:solidFill>
                          <a:latin typeface="Dubai"/>
                          <a:cs typeface="Dubai"/>
                          <a:ea typeface="Dubai"/>
                        </a:rPr>
                        <a:t>غير متوفر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B5CB8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F203A"/>
                          </a:solidFill>
                          <a:latin typeface="Dubai"/>
                          <a:cs typeface="Dubai"/>
                          <a:ea typeface="Dubai"/>
                        </a:rPr>
                        <a:t>متاح في أي وقت</a:t>
                      </a:r>
                    </a:p>
                  </a:txBody>
                  <a:tcPr anchor="ctr" marL="91440" marR="91440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2F7F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8A99AD"/>
                          </a:solidFill>
                          <a:latin typeface="Dubai"/>
                          <a:cs typeface="Dubai"/>
                          <a:ea typeface="Dubai"/>
                        </a:rPr>
                        <a:t>جزئياً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B5CB8"/>
                          </a:solidFill>
                          <a:latin typeface="Dubai"/>
                          <a:cs typeface="Dubai"/>
                          <a:ea typeface="Dubai"/>
                        </a:rPr>
                        <a:t>متوفر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8A99AD"/>
                          </a:solidFill>
                          <a:latin typeface="Dubai"/>
                          <a:cs typeface="Dubai"/>
                          <a:ea typeface="Dubai"/>
                        </a:rPr>
                        <a:t>جزئياً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F203A"/>
                          </a:solidFill>
                          <a:latin typeface="Dubai"/>
                          <a:cs typeface="Dubai"/>
                          <a:ea typeface="Dubai"/>
                        </a:rPr>
                        <a:t>تجربة عربية سهلة</a:t>
                      </a:r>
                    </a:p>
                  </a:txBody>
                  <a:tcPr anchor="ctr" marL="91440" marR="91440" marT="0" marB="0">
                    <a:solidFill>
                      <a:srgbClr val="F7FA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5516880"/>
            <a:ext cx="107655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 لا يلغي المرشد الأكاديمي، بل يخفّف الضغط عنه ويمنحه أداة تساعده على خدمة الطلبة بصورة أفضل.</a:t>
            </a:r>
          </a:p>
        </p:txBody>
      </p:sp>
      <p:pic>
        <p:nvPicPr>
          <p:cNvPr id="10" name="Picture 9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التطبيق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كيف تطبّق الجامعة سنفور؟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94688"/>
            <a:ext cx="1076550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لا يحتاج التطبيق إلى تغيير نظام التسجيل الحالي؛ سنفور طبقة إرشاد ذكية تعمل بجانبه.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8237" y="2407920"/>
            <a:ext cx="2540500" cy="1133856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38237" y="2407920"/>
            <a:ext cx="25405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02081" y="259080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2557" y="3066288"/>
            <a:ext cx="19918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فهم احتياجات الجامعة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68" y="2407920"/>
            <a:ext cx="2540500" cy="1133856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568" y="2407920"/>
            <a:ext cx="25405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60413" y="259080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888" y="3066288"/>
            <a:ext cx="19918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استلام أو إعداد الخطط والمتطلبات والتعليمات الأكاديمية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900" y="2407920"/>
            <a:ext cx="2540500" cy="1133856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4900" y="2407920"/>
            <a:ext cx="25405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18744" y="259080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220" y="3066288"/>
            <a:ext cx="19918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تخصيص سنفور حسب هوية الجامعة وبياناتها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2407920"/>
            <a:ext cx="2540500" cy="1133856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2407920"/>
            <a:ext cx="25405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77076" y="259080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066288"/>
            <a:ext cx="19918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إطلاق تجربة Pilot‏ مع مجموعة محددة من الطلبة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8237" y="3688080"/>
            <a:ext cx="2540500" cy="1133856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38237" y="3688080"/>
            <a:ext cx="2540500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802081" y="387096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2557" y="4346448"/>
            <a:ext cx="19918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جمع التغذية الراجعة وقياس الاستخدام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6568" y="3688080"/>
            <a:ext cx="2540500" cy="1133856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6568" y="3688080"/>
            <a:ext cx="2540500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0413" y="387096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0888" y="4346448"/>
            <a:ext cx="19918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تحسين التجربة بناءً على النتائج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54900" y="3688080"/>
            <a:ext cx="2540500" cy="1133856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54900" y="3688080"/>
            <a:ext cx="2540500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18744" y="387096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9220" y="4346448"/>
            <a:ext cx="19918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التوسع إلى عدد أكبر من الطلبة والتخصصات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132832"/>
            <a:ext cx="10765505" cy="914400"/>
          </a:xfrm>
          <a:prstGeom prst="roundRect">
            <a:avLst>
              <a:gd name="adj" fmla="val 5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0" bIns="0"/>
          <a:lstStyle/>
          <a:p>
            <a:pPr algn="ct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نبدأ بتجربة صغيرة منخفضة المخاطر، نثبت القيمة، ثم نتوسّع.</a:t>
            </a:r>
          </a:p>
        </p:txBody>
      </p:sp>
      <p:pic>
        <p:nvPicPr>
          <p:cNvPr id="38" name="Picture 37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الوصول إلى السوق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استراتيجية الوصول إلى الجامعات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4347" y="1987296"/>
            <a:ext cx="3454389" cy="2724912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24347" y="1987296"/>
            <a:ext cx="3454389" cy="50292"/>
          </a:xfrm>
          <a:prstGeom prst="rect">
            <a:avLst/>
          </a:prstGeom>
          <a:solidFill>
            <a:srgbClr val="7AC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667" y="2243328"/>
            <a:ext cx="29057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50">
                <a:solidFill>
                  <a:srgbClr val="7AC4F5"/>
                </a:solidFill>
                <a:latin typeface="Dubai"/>
                <a:cs typeface="Dubai"/>
                <a:ea typeface="Dubai"/>
              </a:rPr>
              <a:t>المرحلة الأولى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8667" y="2535936"/>
            <a:ext cx="29057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جامعة أولى كحالة تجربة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667" y="3139440"/>
            <a:ext cx="290574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C7D8EE"/>
                </a:solidFill>
                <a:latin typeface="Dubai"/>
                <a:cs typeface="Dubai"/>
                <a:ea typeface="Dubai"/>
              </a:rPr>
              <a:t>•‏ استخدام جامعة الزرقاء كأول حالة تجربة محتملة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80" b="0">
                <a:solidFill>
                  <a:srgbClr val="C7D8EE"/>
                </a:solidFill>
                <a:latin typeface="Dubai"/>
                <a:cs typeface="Dubai"/>
                <a:ea typeface="Dubai"/>
              </a:rPr>
              <a:t>•‏ جمع التغذية الراجعة من الطلبة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80" b="0">
                <a:solidFill>
                  <a:srgbClr val="C7D8EE"/>
                </a:solidFill>
                <a:latin typeface="Dubai"/>
                <a:cs typeface="Dubai"/>
                <a:ea typeface="Dubai"/>
              </a:rPr>
              <a:t>•‏ توثيق الفوائد والنتائج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80" b="0">
                <a:solidFill>
                  <a:srgbClr val="C7D8EE"/>
                </a:solidFill>
                <a:latin typeface="Dubai"/>
                <a:cs typeface="Dubai"/>
                <a:ea typeface="Dubai"/>
              </a:rPr>
              <a:t>•‏ تطوير نموذج Pilot‏ واضح وقابل للتكرار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789" y="1987296"/>
            <a:ext cx="3454389" cy="2724912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789" y="1987296"/>
            <a:ext cx="3454389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109" y="2243328"/>
            <a:ext cx="29057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المرحلة الثانية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109" y="2535936"/>
            <a:ext cx="29057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الوصول لصنّاع القرار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109" y="3139440"/>
            <a:ext cx="290574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التواصل مع إدارات الجامعات وصنّاع القرار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8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تقديم عروض حيّة للمنصة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8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استهداف أقسام التسجيل والإرشاد والتحول الرقمي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8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تقديم تجربة محدودة قبل التعاقد الكامل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1987296"/>
            <a:ext cx="3454389" cy="2724912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1987296"/>
            <a:ext cx="3454389" cy="50292"/>
          </a:xfrm>
          <a:prstGeom prst="rect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243328"/>
            <a:ext cx="29057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المرحلة الثالثة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535936"/>
            <a:ext cx="29057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التوسع بالثقة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139440"/>
            <a:ext cx="290574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الاستفادة من تجربة أول جامعة كدراسة حالة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8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بناء الثقة مع جامعات إضافية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8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التوسع التدريجي داخل الأردن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8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تحسين عملية الإعداد لتقليل زمن التطبيق</a:t>
            </a:r>
          </a:p>
        </p:txBody>
      </p:sp>
      <p:pic>
        <p:nvPicPr>
          <p:cNvPr id="23" name="Picture 22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329" y="-1737360"/>
            <a:ext cx="4572000" cy="4572000"/>
          </a:xfrm>
          <a:prstGeom prst="ellipse">
            <a:avLst/>
          </a:prstGeom>
          <a:solidFill>
            <a:srgbClr val="EFF5F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77724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2F7FE0"/>
                </a:solidFill>
                <a:latin typeface="Dubai"/>
                <a:cs typeface="Dubai"/>
                <a:ea typeface="Dubai"/>
              </a:rPr>
              <a:t>الحالة وخارطة الطريق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منتج يعمل اليوم، وخطة واضحة للقادم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06737" y="1969008"/>
            <a:ext cx="4572000" cy="3529584"/>
          </a:xfrm>
          <a:prstGeom prst="roundRect">
            <a:avLst>
              <a:gd name="adj" fmla="val 6000"/>
            </a:avLst>
          </a:prstGeom>
          <a:solidFill>
            <a:srgbClr val="F7FAFE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6737" y="1969008"/>
            <a:ext cx="45720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81057" y="2215896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الإنجازات الحالية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1057" y="2645664"/>
            <a:ext cx="4023360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نموذج أولي MVP‏ جاهز ويعمل</a:t>
            </a:r>
          </a:p>
          <a:p>
            <a:pPr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منصة فعلية قابلة للتجربة</a:t>
            </a:r>
          </a:p>
          <a:p>
            <a:pPr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شجرة أكاديمية تفاعلية</a:t>
            </a:r>
          </a:p>
          <a:p>
            <a:pPr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مستشار أكاديمي يعمل بالذكاء الاصطناعي</a:t>
            </a:r>
          </a:p>
          <a:p>
            <a:pPr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تسجيل تجريبي داخل المنصة</a:t>
            </a:r>
          </a:p>
          <a:p>
            <a:pPr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تجربة فعلية مع مستخدمين من طلبة جامعة الزرقاء</a:t>
            </a:r>
          </a:p>
          <a:p>
            <a:pPr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ردود فعل إيجابية واهتمام من الجامعة</a:t>
            </a:r>
          </a:p>
          <a:p>
            <a:pPr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مشاركة في مسابقات وبرامج ريادية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1057" y="50413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5CB8"/>
                </a:solidFill>
                <a:latin typeface="Dubai"/>
                <a:cs typeface="Dubai"/>
                <a:ea typeface="Dubai"/>
              </a:rPr>
              <a:t>مبنية على React‏ و Laravel‏ و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87296"/>
            <a:ext cx="59191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خارطة الطريق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9457" y="2517648"/>
            <a:ext cx="32004" cy="2871216"/>
          </a:xfrm>
          <a:prstGeom prst="rect">
            <a:avLst/>
          </a:prstGeom>
          <a:solidFill>
            <a:srgbClr val="D8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36305" y="2563368"/>
            <a:ext cx="173736" cy="173736"/>
          </a:xfrm>
          <a:prstGeom prst="ellipse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0697" y="250850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5CB8"/>
                </a:solidFill>
                <a:latin typeface="Segoe UI"/>
                <a:cs typeface="Segoe UI"/>
                <a:ea typeface="Segoe UI"/>
              </a:rP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490216"/>
            <a:ext cx="34685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إطلاق تجربة Pilot</a:t>
            </a:r>
          </a:p>
          <a:p>
            <a:pPr rtl="1" algn="r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جمع التغذية الراجعة وتحسين المنتج</a:t>
            </a:r>
          </a:p>
        </p:txBody>
      </p:sp>
      <p:sp>
        <p:nvSpPr>
          <p:cNvPr id="18" name="Oval 17"/>
          <p:cNvSpPr/>
          <p:nvPr/>
        </p:nvSpPr>
        <p:spPr>
          <a:xfrm>
            <a:off x="5736305" y="3203447"/>
            <a:ext cx="173736" cy="173736"/>
          </a:xfrm>
          <a:prstGeom prst="ellipse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0697" y="314858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5CB8"/>
                </a:solidFill>
                <a:latin typeface="Segoe UI"/>
                <a:cs typeface="Segoe UI"/>
                <a:ea typeface="Segoe UI"/>
              </a:rP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130295"/>
            <a:ext cx="34685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النسخة الثانية من AI Sanfoor‏ ورفع دقة التوصيات</a:t>
            </a:r>
          </a:p>
          <a:p>
            <a:pPr rtl="1" algn="r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تحسين الاستقرار وتجهيز التخصيص المؤسسي</a:t>
            </a:r>
          </a:p>
        </p:txBody>
      </p:sp>
      <p:sp>
        <p:nvSpPr>
          <p:cNvPr id="21" name="Oval 20"/>
          <p:cNvSpPr/>
          <p:nvPr/>
        </p:nvSpPr>
        <p:spPr>
          <a:xfrm>
            <a:off x="5736305" y="3843528"/>
            <a:ext cx="173736" cy="173736"/>
          </a:xfrm>
          <a:prstGeom prst="ellipse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0697" y="3788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5CB8"/>
                </a:solidFill>
                <a:latin typeface="Segoe UI"/>
                <a:cs typeface="Segoe UI"/>
                <a:ea typeface="Segoe UI"/>
              </a:rPr>
              <a:t>Q1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770375"/>
            <a:ext cx="34685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الوصول إلى ثلاث جامعات ضمن تفاوض أو تجربة</a:t>
            </a:r>
          </a:p>
          <a:p>
            <a:pPr rtl="1" algn="r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تحسين عملية إعداد خطط الجامعات</a:t>
            </a:r>
          </a:p>
        </p:txBody>
      </p:sp>
      <p:sp>
        <p:nvSpPr>
          <p:cNvPr id="24" name="Oval 23"/>
          <p:cNvSpPr/>
          <p:nvPr/>
        </p:nvSpPr>
        <p:spPr>
          <a:xfrm>
            <a:off x="5736305" y="4483608"/>
            <a:ext cx="173736" cy="173736"/>
          </a:xfrm>
          <a:prstGeom prst="ellipse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0697" y="44287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5CB8"/>
                </a:solidFill>
                <a:latin typeface="Segoe UI"/>
                <a:cs typeface="Segoe UI"/>
                <a:ea typeface="Segoe UI"/>
              </a:rPr>
              <a:t>Q2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10456"/>
            <a:ext cx="34685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أدوات وتقارير خاصة بالجامعة</a:t>
            </a:r>
          </a:p>
          <a:p>
            <a:pPr rtl="1" algn="r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تحسين الدعم والتكامل</a:t>
            </a:r>
          </a:p>
        </p:txBody>
      </p:sp>
      <p:sp>
        <p:nvSpPr>
          <p:cNvPr id="27" name="Oval 26"/>
          <p:cNvSpPr/>
          <p:nvPr/>
        </p:nvSpPr>
        <p:spPr>
          <a:xfrm>
            <a:off x="5736305" y="5123688"/>
            <a:ext cx="173736" cy="173736"/>
          </a:xfrm>
          <a:prstGeom prst="ellipse">
            <a:avLst/>
          </a:prstGeom>
          <a:solidFill>
            <a:srgbClr val="1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0697" y="506882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5CB8"/>
                </a:solidFill>
                <a:latin typeface="Segoe UI"/>
                <a:cs typeface="Segoe UI"/>
                <a:ea typeface="Segoe UI"/>
              </a:rPr>
              <a:t>Q3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050536"/>
            <a:ext cx="34685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توسيع الانتشار داخل الجامعات الأردنية</a:t>
            </a:r>
          </a:p>
        </p:txBody>
      </p:sp>
      <p:pic>
        <p:nvPicPr>
          <p:cNvPr id="30" name="Picture 29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9AD"/>
                </a:solidFill>
                <a:latin typeface="Segoe UI"/>
                <a:cs typeface="Segoe UI"/>
                <a:ea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20627" y="-2377440"/>
            <a:ext cx="8778240" cy="8778240"/>
          </a:xfrm>
          <a:prstGeom prst="ellipse">
            <a:avLst/>
          </a:prstGeom>
          <a:solidFill>
            <a:srgbClr val="2F7FE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114800"/>
            <a:ext cx="6035040" cy="6035040"/>
          </a:xfrm>
          <a:prstGeom prst="ellipse">
            <a:avLst/>
          </a:prstGeom>
          <a:solidFill>
            <a:srgbClr val="7AC4F5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48640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7AC4F5"/>
                </a:solidFill>
                <a:latin typeface="Dubai"/>
                <a:cs typeface="Dubai"/>
                <a:ea typeface="Dubai"/>
              </a:rPr>
              <a:t>الرؤية والفريق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1076550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إلى أين يتجه سنفور؟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7137" y="1475232"/>
            <a:ext cx="1371600" cy="50292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18017" y="1969008"/>
            <a:ext cx="576072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335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8017" y="1969008"/>
            <a:ext cx="5760720" cy="50292"/>
          </a:xfrm>
          <a:prstGeom prst="rect">
            <a:avLst/>
          </a:prstGeom>
          <a:solidFill>
            <a:srgbClr val="7AC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28913" y="2225040"/>
            <a:ext cx="5138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50">
                <a:solidFill>
                  <a:srgbClr val="7AC4F5"/>
                </a:solidFill>
                <a:latin typeface="Dubai"/>
                <a:cs typeface="Dubai"/>
                <a:ea typeface="Dubai"/>
              </a:rPr>
              <a:t>الرؤية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8913" y="2535936"/>
            <a:ext cx="51389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أن يصبح سنفور المساعد الأكاديمي الذكي الأول في الجامعات الأردنية، ثم التوسع مستقبلاً إلى الجامعات العربية.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8017" y="3742944"/>
            <a:ext cx="5760720" cy="1645920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335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8017" y="3742944"/>
            <a:ext cx="5760720" cy="50292"/>
          </a:xfrm>
          <a:prstGeom prst="rect">
            <a:avLst/>
          </a:prstGeom>
          <a:solidFill>
            <a:srgbClr val="7AC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28913" y="3998976"/>
            <a:ext cx="5138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50">
                <a:solidFill>
                  <a:srgbClr val="7AC4F5"/>
                </a:solidFill>
                <a:latin typeface="Dubai"/>
                <a:cs typeface="Dubai"/>
                <a:ea typeface="Dubai"/>
              </a:rPr>
              <a:t>الرسالة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8913" y="4309872"/>
            <a:ext cx="51389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تمكين الجامعات من تقديم إرشاد أكاديمي ذكي ومخصّص يساعد الطلبة على اتخاذ قرارات أفضل، ويخفّف الضغط عن الكادر الأكاديمي.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1969008"/>
            <a:ext cx="4730465" cy="3419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42416" y="2279904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2371344"/>
            <a:ext cx="29931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عاصم الخباص</a:t>
            </a:r>
          </a:p>
          <a:p>
            <a:pPr rtl="1"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1B5CB8"/>
                </a:solidFill>
                <a:latin typeface="Dubai"/>
                <a:cs typeface="Dubai"/>
                <a:ea typeface="Dubai"/>
              </a:rPr>
              <a:t>المؤسس والمطوّر، Full-Stack Developer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" y="3395471"/>
            <a:ext cx="1234440" cy="45720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614928"/>
            <a:ext cx="407209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03A"/>
                </a:solidFill>
                <a:latin typeface="Dubai"/>
                <a:cs typeface="Dubai"/>
                <a:ea typeface="Dubai"/>
              </a:rPr>
              <a:t>بنى سنفور من الفكرة إلى نموذج أولي يعمل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تطوير الواجهة الأمامية باستخدام React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تطوير الخلفية باستخدام Laravel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بناء قاعدة البيانات باستخدام PostgreSQL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بناء المستشار الأكاديمي وربطه ببيانات الطلبة وخططهم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5B72"/>
                </a:solidFill>
                <a:latin typeface="Dubai"/>
                <a:cs typeface="Dubai"/>
                <a:ea typeface="Dubai"/>
              </a:rPr>
              <a:t>•‏ تصميم تجربة المنتج وتحويل المشكلة إلى منصة قابلة للتجربة</a:t>
            </a:r>
          </a:p>
        </p:txBody>
      </p:sp>
      <p:pic>
        <p:nvPicPr>
          <p:cNvPr id="21" name="Picture 20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6089904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8680" y="61539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سنفور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4337" y="6181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C4F5"/>
                </a:solidFill>
                <a:latin typeface="Segoe UI"/>
                <a:cs typeface="Segoe UI"/>
                <a:ea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20627" y="-2377440"/>
            <a:ext cx="8778240" cy="8778240"/>
          </a:xfrm>
          <a:prstGeom prst="ellipse">
            <a:avLst/>
          </a:prstGeom>
          <a:solidFill>
            <a:srgbClr val="2F7FE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114800"/>
            <a:ext cx="6035040" cy="6035040"/>
          </a:xfrm>
          <a:prstGeom prst="ellipse">
            <a:avLst/>
          </a:prstGeom>
          <a:solidFill>
            <a:srgbClr val="7AC4F5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sanf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056" y="914400"/>
            <a:ext cx="1133856" cy="11338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2249424"/>
            <a:ext cx="1076550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من الإرشاد التقليدي
إلى القرار الأكاديمي الذكي</a:t>
            </a:r>
          </a:p>
        </p:txBody>
      </p:sp>
      <p:sp>
        <p:nvSpPr>
          <p:cNvPr id="7" name="Rectangle 6"/>
          <p:cNvSpPr/>
          <p:nvPr/>
        </p:nvSpPr>
        <p:spPr>
          <a:xfrm>
            <a:off x="5273024" y="3803904"/>
            <a:ext cx="1645920" cy="54864"/>
          </a:xfrm>
          <a:prstGeom prst="rect">
            <a:avLst/>
          </a:prstGeom>
          <a:solidFill>
            <a:srgbClr val="2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76272" y="4078224"/>
            <a:ext cx="783942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7D8EE"/>
                </a:solidFill>
                <a:latin typeface="Dubai"/>
                <a:cs typeface="Dubai"/>
                <a:ea typeface="Dubai"/>
              </a:rPr>
              <a:t>سنفور جاهز للانتقال من منتج يعمل إلى تجربة مؤسسية داخل جامعة.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5704" y="4992624"/>
            <a:ext cx="4480560" cy="1060704"/>
          </a:xfrm>
          <a:prstGeom prst="roundRect">
            <a:avLst>
              <a:gd name="adj" fmla="val 7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35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92864" y="5175504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Dubai"/>
                <a:cs typeface="Dubai"/>
                <a:ea typeface="Dubai"/>
              </a:rPr>
              <a:t>سنفور، مرشدك الأكاديمي الذكي</a:t>
            </a:r>
          </a:p>
          <a:p>
            <a:pPr rtl="1" algn="ctr">
              <a:lnSpc>
                <a:spcPct val="124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9FC8F2"/>
                </a:solidFill>
                <a:latin typeface="Dubai"/>
                <a:cs typeface="Dubai"/>
                <a:ea typeface="Dubai"/>
              </a:rPr>
              <a:t>عاصم الخباص، المؤسس والمطوّر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